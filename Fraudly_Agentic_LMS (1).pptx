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3460">
              <a:alpha val="4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29260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743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PROJET INNOVANT — 5 INGÉNIEURS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FRAUDLY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600" dirty="0">
                <a:solidFill>
                  <a:srgbClr val="00D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AGENTIC LMS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" y="242316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Plateforme Cloud EdTech basée sur l'Intelligence Artificielle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 les Systèmes Multi-Agents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657600"/>
            <a:ext cx="155448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3703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" y="42519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alt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Etudiants</a:t>
            </a:r>
            <a:endParaRPr lang="fr-FR" altLang="en-US" sz="1000" dirty="0">
              <a:solidFill>
                <a:srgbClr val="E2E8F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148840" y="3657600"/>
            <a:ext cx="155448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48840" y="3703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148840" y="42519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Modules 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77640" y="3657600"/>
            <a:ext cx="155448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77640" y="3703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10+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977640" y="42519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</a:t>
            </a:r>
            <a:endParaRPr lang="en-US" sz="1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CONTEXTE &amp; PROBLÉMATIQUE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14400"/>
            <a:ext cx="2834640" cy="393192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2834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09728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0574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Création d'Évaluations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" y="274320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26791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Processus long &amp; fastidieux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33375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327355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Manque de diversité des questions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7472" y="39319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386791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Difficile à calibrer la difficulté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72968" y="914400"/>
            <a:ext cx="2834640" cy="3931920"/>
          </a:xfrm>
          <a:prstGeom prst="rect">
            <a:avLst/>
          </a:prstGeom>
          <a:solidFill>
            <a:srgbClr val="112240"/>
          </a:solidFill>
          <a:ln w="1905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72968" y="914400"/>
            <a:ext cx="28346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1097280"/>
            <a:ext cx="822960" cy="8229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64408" y="20574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Fraude Académique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337560" y="274320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20440" y="26791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Recherche internet non détectée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337560" y="333756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20440" y="327355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Collaboration entre étudiants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337560" y="393192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20440" y="386791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Utilisation d'appareils externes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163056" y="914400"/>
            <a:ext cx="2834640" cy="3931920"/>
          </a:xfrm>
          <a:prstGeom prst="rect">
            <a:avLst/>
          </a:prstGeom>
          <a:solidFill>
            <a:srgbClr val="112240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63056" y="914400"/>
            <a:ext cx="28346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1097280"/>
            <a:ext cx="822960" cy="8229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54496" y="20574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Apprentissage Non Personnalisé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327648" y="274320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510528" y="26791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Mêmes contenus pour tous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327648" y="333756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510528" y="327355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Difficultés non détectées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327648" y="393192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510528" y="386791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Manque de feedback adaptatif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🏗️  ARCHITECTURE FONCTIONNELLE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37890" y="1463040"/>
            <a:ext cx="2194560" cy="109728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A78BFA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1501775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AGENTIC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1920240" cy="868680"/>
          </a:xfrm>
          <a:prstGeom prst="rect">
            <a:avLst/>
          </a:prstGeom>
          <a:solidFill>
            <a:srgbClr val="112240"/>
          </a:solidFill>
          <a:ln w="19050">
            <a:solidFill>
              <a:srgbClr val="0096B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22960"/>
            <a:ext cx="64008" cy="86868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0058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00584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Hub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2880" y="3017520"/>
            <a:ext cx="1920240" cy="868680"/>
          </a:xfrm>
          <a:prstGeom prst="rect">
            <a:avLst/>
          </a:prstGeom>
          <a:solidFill>
            <a:srgbClr val="112240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82880" y="3017520"/>
            <a:ext cx="64008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32004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" y="320040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Agent System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858000" y="822960"/>
            <a:ext cx="1920240" cy="86868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0" y="82296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0058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98080" y="100584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Assessment Engine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58000" y="3017520"/>
            <a:ext cx="1920240" cy="868680"/>
          </a:xfrm>
          <a:prstGeom prst="rect">
            <a:avLst/>
          </a:prstGeom>
          <a:solidFill>
            <a:srgbClr val="112240"/>
          </a:solidFill>
          <a:ln w="1905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0" y="3017520"/>
            <a:ext cx="6400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32004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20040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Proctoring &amp; Fraud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474720" y="4206240"/>
            <a:ext cx="1920240" cy="868680"/>
          </a:xfrm>
          <a:prstGeom prst="rect">
            <a:avLst/>
          </a:prstGeom>
          <a:solidFill>
            <a:srgbClr val="112240"/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74720" y="4206240"/>
            <a:ext cx="6400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438912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114800" y="438912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Analytics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 rot="2040000" flipV="1">
            <a:off x="2103120" y="1253490"/>
            <a:ext cx="1711960" cy="438150"/>
          </a:xfrm>
          <a:prstGeom prst="line">
            <a:avLst/>
          </a:prstGeom>
          <a:noFill/>
          <a:ln w="19050">
            <a:solidFill>
              <a:srgbClr val="00D4FF"/>
            </a:solidFill>
            <a:prstDash val="dash"/>
          </a:ln>
        </p:spPr>
      </p:sp>
      <p:sp>
        <p:nvSpPr>
          <p:cNvPr id="28" name="Shape 21"/>
          <p:cNvSpPr/>
          <p:nvPr/>
        </p:nvSpPr>
        <p:spPr>
          <a:xfrm rot="17640000">
            <a:off x="2103120" y="2442210"/>
            <a:ext cx="1735455" cy="1005840"/>
          </a:xfrm>
          <a:prstGeom prst="line">
            <a:avLst/>
          </a:prstGeom>
          <a:noFill/>
          <a:ln w="19050">
            <a:solidFill>
              <a:srgbClr val="00D4FF"/>
            </a:solidFill>
            <a:prstDash val="dash"/>
          </a:ln>
        </p:spPr>
      </p:sp>
      <p:sp>
        <p:nvSpPr>
          <p:cNvPr id="29" name="Shape 22"/>
          <p:cNvSpPr/>
          <p:nvPr/>
        </p:nvSpPr>
        <p:spPr>
          <a:xfrm rot="7560000">
            <a:off x="5465445" y="1252855"/>
            <a:ext cx="1438275" cy="880110"/>
          </a:xfrm>
          <a:prstGeom prst="line">
            <a:avLst/>
          </a:prstGeom>
          <a:noFill/>
          <a:ln w="19050">
            <a:solidFill>
              <a:srgbClr val="00D4FF"/>
            </a:solidFill>
            <a:prstDash val="dash"/>
          </a:ln>
        </p:spPr>
      </p:sp>
      <p:sp>
        <p:nvSpPr>
          <p:cNvPr id="30" name="Shape 23"/>
          <p:cNvSpPr/>
          <p:nvPr/>
        </p:nvSpPr>
        <p:spPr>
          <a:xfrm>
            <a:off x="5074920" y="2560320"/>
            <a:ext cx="1828800" cy="887730"/>
          </a:xfrm>
          <a:prstGeom prst="line">
            <a:avLst/>
          </a:prstGeom>
          <a:noFill/>
          <a:ln w="19050">
            <a:solidFill>
              <a:srgbClr val="00D4FF"/>
            </a:solidFill>
            <a:prstDash val="dash"/>
          </a:ln>
        </p:spPr>
      </p:sp>
      <p:sp>
        <p:nvSpPr>
          <p:cNvPr id="31" name="Shape 24"/>
          <p:cNvSpPr/>
          <p:nvPr/>
        </p:nvSpPr>
        <p:spPr>
          <a:xfrm>
            <a:off x="4572000" y="2578608"/>
            <a:ext cx="0" cy="1664208"/>
          </a:xfrm>
          <a:prstGeom prst="line">
            <a:avLst/>
          </a:prstGeom>
          <a:noFill/>
          <a:ln w="19050">
            <a:solidFill>
              <a:srgbClr val="00D4FF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 SYSTÈME MULTI-AGENTS 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822960"/>
            <a:ext cx="1664208" cy="4069080"/>
          </a:xfrm>
          <a:prstGeom prst="rect">
            <a:avLst/>
          </a:prstGeom>
          <a:solidFill>
            <a:srgbClr val="112240"/>
          </a:solidFill>
          <a:ln w="19050">
            <a:solidFill>
              <a:srgbClr val="0096B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822960"/>
            <a:ext cx="1664208" cy="64008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960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" y="1600200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Tutor Agent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37160" y="20116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96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Assistant pédagogique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2880" y="2377440"/>
            <a:ext cx="1481328" cy="0"/>
          </a:xfrm>
          <a:prstGeom prst="line">
            <a:avLst/>
          </a:prstGeom>
          <a:noFill/>
          <a:ln w="6350">
            <a:solidFill>
              <a:srgbClr val="0096B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" y="248716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Répond aux questions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82880" y="2999232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Explique les concepts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82880" y="3511296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Propose des exemples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82880" y="40233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LLM + RAG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883664" y="822960"/>
            <a:ext cx="1664208" cy="4069080"/>
          </a:xfrm>
          <a:prstGeom prst="rect">
            <a:avLst/>
          </a:prstGeom>
          <a:solidFill>
            <a:srgbClr val="112240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883664" y="822960"/>
            <a:ext cx="166420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9601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29384" y="1600200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Path Agent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929384" y="20116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Personnalisation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1975104" y="2377440"/>
            <a:ext cx="1481328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975104" y="248716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Analyse résultats &amp; erreurs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975104" y="2999232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Recommande les chapitres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975104" y="3511296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Adapte la difficulté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975104" y="40233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Exercices sur mesure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675888" y="822960"/>
            <a:ext cx="1664208" cy="406908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675888" y="822960"/>
            <a:ext cx="16642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960120"/>
            <a:ext cx="548640" cy="5486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721608" y="1600200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Assessment Agent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3721608" y="20116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Évaluation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767328" y="2377440"/>
            <a:ext cx="1481328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767328" y="248716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Génère QCM automatiques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3767328" y="2999232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Crée les distracteurs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3767328" y="3511296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Calibre la difficulté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3767328" y="40233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Examens uniques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68112" y="822960"/>
            <a:ext cx="1664208" cy="4069080"/>
          </a:xfrm>
          <a:prstGeom prst="rect">
            <a:avLst/>
          </a:prstGeom>
          <a:solidFill>
            <a:srgbClr val="112240"/>
          </a:solidFill>
          <a:ln w="1905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5468112" y="822960"/>
            <a:ext cx="166420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960120"/>
            <a:ext cx="548640" cy="54864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513832" y="1600200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 Agent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5513832" y="20116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Anti-Fraude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5559552" y="2377440"/>
            <a:ext cx="1481328" cy="0"/>
          </a:xfrm>
          <a:prstGeom prst="line">
            <a:avLst/>
          </a:prstGeom>
          <a:noFill/>
          <a:ln w="6350">
            <a:solidFill>
              <a:srgbClr val="EF4444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559552" y="248716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Analyse comportement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5559552" y="2999232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Surveille via webcam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5559552" y="3511296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Détecte VPN &amp; IP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5559552" y="40233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Vision par ordinateur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7260336" y="822960"/>
            <a:ext cx="1664208" cy="4069080"/>
          </a:xfrm>
          <a:prstGeom prst="rect">
            <a:avLst/>
          </a:prstGeom>
          <a:solidFill>
            <a:srgbClr val="112240"/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7260336" y="822960"/>
            <a:ext cx="166420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4" y="960120"/>
            <a:ext cx="548640" cy="54864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7306056" y="1600200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Agent</a:t>
            </a:r>
            <a:endParaRPr lang="en-US" sz="1050" dirty="0"/>
          </a:p>
        </p:txBody>
      </p:sp>
      <p:sp>
        <p:nvSpPr>
          <p:cNvPr id="49" name="Text 42"/>
          <p:cNvSpPr/>
          <p:nvPr/>
        </p:nvSpPr>
        <p:spPr>
          <a:xfrm>
            <a:off x="7306056" y="20116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Analytique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7351776" y="2377440"/>
            <a:ext cx="1481328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7351776" y="248716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Performances globales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7351776" y="2999232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Chapitres difficiles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7351776" y="3511296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Stats d'examens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7351776" y="40233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Détection anomalies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🛡️  MODULE ANTI-FRAUDE — DÉTECTION MULTICOUCHE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68680"/>
            <a:ext cx="2834640" cy="3977640"/>
          </a:xfrm>
          <a:prstGeom prst="rect">
            <a:avLst/>
          </a:prstGeom>
          <a:solidFill>
            <a:srgbClr val="112240"/>
          </a:solidFill>
          <a:ln w="19050">
            <a:solidFill>
              <a:srgbClr val="0096B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68680"/>
            <a:ext cx="2834640" cy="7315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05156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0116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Sécurité Réseau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65760" y="2560320"/>
            <a:ext cx="2468880" cy="0"/>
          </a:xfrm>
          <a:prstGeom prst="line">
            <a:avLst/>
          </a:prstGeom>
          <a:noFill/>
          <a:ln w="6350">
            <a:solidFill>
              <a:srgbClr val="0096B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2697480"/>
            <a:ext cx="73152" cy="3657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67919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Analyse IP &amp; géolocalisation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" y="3319272"/>
            <a:ext cx="73152" cy="3657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30098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Détection VPN/Proxy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" y="3941064"/>
            <a:ext cx="73152" cy="3657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92277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 fingerprinting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" y="4562856"/>
            <a:ext cx="73152" cy="3657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54456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Surveillance réseau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172968" y="868680"/>
            <a:ext cx="2834640" cy="397764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72968" y="868680"/>
            <a:ext cx="2834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1051560"/>
            <a:ext cx="822960" cy="8229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64408" y="20116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Analyse Comportementale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355848" y="2560320"/>
            <a:ext cx="2468880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310128" y="2697480"/>
            <a:ext cx="7315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93008" y="267919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Changement d'onglet détecté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310128" y="3319272"/>
            <a:ext cx="7315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93008" y="330098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Vitesse de réponse anormale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310128" y="3941064"/>
            <a:ext cx="7315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93008" y="392277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Patterns de clics suspects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3310128" y="4562856"/>
            <a:ext cx="7315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493008" y="454456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Temps passé par question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163056" y="868680"/>
            <a:ext cx="2834640" cy="3977640"/>
          </a:xfrm>
          <a:prstGeom prst="rect">
            <a:avLst/>
          </a:prstGeom>
          <a:solidFill>
            <a:srgbClr val="112240"/>
          </a:solidFill>
          <a:ln w="1905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163056" y="868680"/>
            <a:ext cx="28346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1051560"/>
            <a:ext cx="822960" cy="8229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254496" y="20116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 par Ordinateur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6345936" y="2560320"/>
            <a:ext cx="2468880" cy="0"/>
          </a:xfrm>
          <a:prstGeom prst="line">
            <a:avLst/>
          </a:prstGeom>
          <a:noFill/>
          <a:ln w="6350">
            <a:solidFill>
              <a:srgbClr val="EF4444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300216" y="2697480"/>
            <a:ext cx="73152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83096" y="267919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Détection de visage (MTCNN)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300216" y="3319272"/>
            <a:ext cx="73152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483096" y="330098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Détection objets interdits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300216" y="3941064"/>
            <a:ext cx="73152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83096" y="392277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Comptage de personnes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6300216" y="4562856"/>
            <a:ext cx="73152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483096" y="454456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OpenCV + YOLO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  RÉPARTITION DES RÔLES — 5 INGÉNIEURS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868680"/>
            <a:ext cx="2743200" cy="1828800"/>
          </a:xfrm>
          <a:prstGeom prst="rect">
            <a:avLst/>
          </a:prstGeom>
          <a:solidFill>
            <a:srgbClr val="112240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86868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96012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9601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978408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Ingénieur IA &amp; Agents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" y="1453896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Développer les 5 agents IA (LangChain)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5176" y="1764792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Implémenter RAG pour le Tutor Agent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5176" y="2075688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Intégrer LLaMA / Mistral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5176" y="2386584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Système de recommandation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54680" y="868680"/>
            <a:ext cx="2743200" cy="18288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96B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868680"/>
            <a:ext cx="2743200" cy="64008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960120"/>
            <a:ext cx="402336" cy="402336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9601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21608" y="978408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Ingénieur Backend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82696" y="1453896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Microservices Spring Boot / FastAPI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82696" y="1764792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API Gateway &amp; orchestration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82696" y="2075688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PostgreSQL &amp; Vector DB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82696" y="2386584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Intégration AWS S3 &amp; Textract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868680"/>
            <a:ext cx="2743200" cy="182880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86868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96012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9601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39128" y="978408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Ingénieur Frontend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0216" y="1453896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Interface React / Next.js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0216" y="1764792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Dashboard analytique temps réel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0216" y="2075688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Mode examen sécurisé (fullscreen)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00216" y="2386584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WebSocket &amp; notifications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645920" y="2926080"/>
            <a:ext cx="2743200" cy="1828800"/>
          </a:xfrm>
          <a:prstGeom prst="rect">
            <a:avLst/>
          </a:prstGeom>
          <a:solidFill>
            <a:srgbClr val="112240"/>
          </a:solidFill>
          <a:ln w="1905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645920" y="292608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37360" y="3017520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37360" y="30175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12848" y="3035808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Ingénieur ML / Anti-Fraude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773936" y="3511296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Modèles PyTorch &amp; XGBoost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773936" y="3822192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Pipeline OpenCV + YOLO + MTCNN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773936" y="4133088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Détection comportementale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773936" y="4443984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Device fingerprinting &amp; réseau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2926080"/>
            <a:ext cx="2743200" cy="1828800"/>
          </a:xfrm>
          <a:prstGeom prst="rect">
            <a:avLst/>
          </a:prstGeom>
          <a:solidFill>
            <a:srgbClr val="112240"/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292608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017520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0175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30368" y="3035808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Ingénieur DevOps &amp; Cloud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91456" y="3511296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Infrastructure AWS &amp; Docker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91456" y="3822192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Orchestration Kubernetes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91456" y="4133088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CI/CD &amp; monitoring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91456" y="4443984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  Sécurité &amp; scalabilité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  STACK TECHNOLOGIQUE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68680"/>
            <a:ext cx="283464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96B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68680"/>
            <a:ext cx="2834640" cy="64008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2560320" cy="0"/>
          </a:xfrm>
          <a:prstGeom prst="line">
            <a:avLst/>
          </a:prstGeom>
          <a:noFill/>
          <a:ln w="6350">
            <a:solidFill>
              <a:srgbClr val="0096B7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00200"/>
            <a:ext cx="91440" cy="91440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3619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/ Next.js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47672"/>
            <a:ext cx="91440" cy="91440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83664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95144"/>
            <a:ext cx="91440" cy="91440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31136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72968" y="868680"/>
            <a:ext cx="283464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868680"/>
            <a:ext cx="2834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96012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10128" y="1463040"/>
            <a:ext cx="256032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5848" y="160020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8728" y="153619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55848" y="19476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8728" y="1883664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55848" y="229514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8728" y="2231136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63056" y="868680"/>
            <a:ext cx="283464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868680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96012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IA / LLM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0216" y="1463040"/>
            <a:ext cx="2560320" cy="0"/>
          </a:xfrm>
          <a:prstGeom prst="line">
            <a:avLst/>
          </a:prstGeom>
          <a:noFill/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45936" y="16002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8816" y="153619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 / Mistral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45936" y="19476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8816" y="1883664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45936" y="22951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28816" y="2231136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HuggingFace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" y="3017520"/>
            <a:ext cx="283464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82880" y="3017520"/>
            <a:ext cx="28346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1089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3611880"/>
            <a:ext cx="2560320" cy="0"/>
          </a:xfrm>
          <a:prstGeom prst="line">
            <a:avLst/>
          </a:prstGeom>
          <a:noFill/>
          <a:ln w="635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749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68503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032504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44398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379976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172968" y="3017520"/>
            <a:ext cx="283464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172968" y="3017520"/>
            <a:ext cx="28346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31089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de Données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310128" y="3611880"/>
            <a:ext cx="2560320" cy="0"/>
          </a:xfrm>
          <a:prstGeom prst="line">
            <a:avLst/>
          </a:prstGeom>
          <a:noFill/>
          <a:ln w="63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55848" y="3749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38728" y="368503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355848" y="409651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38728" y="4032504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Pinecone / Weaviate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355848" y="44439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38728" y="4379976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S3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63056" y="3017520"/>
            <a:ext cx="283464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163056" y="3017520"/>
            <a:ext cx="28346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0216" y="31089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&amp; DevOps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300216" y="3611880"/>
            <a:ext cx="2560320" cy="0"/>
          </a:xfrm>
          <a:prstGeom prst="line">
            <a:avLst/>
          </a:prstGeom>
          <a:noFill/>
          <a:ln w="635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45936" y="374904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8816" y="368503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45936" y="409651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8816" y="4032504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345936" y="444398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28816" y="4379976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Kubernetes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096B7">
              <a:alpha val="20000"/>
            </a:srgbClr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POURQUOI FRAUDLY 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Un LMS Autonome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de Nouvelle Génération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0040" y="2423160"/>
            <a:ext cx="411480" cy="41148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46888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423160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IA collaboratifs qui optimisent l'apprentissage en temps réel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3063240"/>
            <a:ext cx="411480" cy="41148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10896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3063240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Sécurité multicouche pour des évaluations fiables et anti-fraude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0040" y="3703320"/>
            <a:ext cx="411480" cy="41148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4904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703320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avancés pour enseignants et administration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20040" y="4343400"/>
            <a:ext cx="411480" cy="41148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0096B7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38912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4343400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cloud scalable sur AWS avec microservices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Fraudly Agentic LMS  ·  Projet Innovant  ·  5 Ingénieurs  ·  EdTech × 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3060</Words>
  <Application>WPS Presentation</Application>
  <PresentationFormat>On-screen Show (16:9)</PresentationFormat>
  <Paragraphs>283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Arial Black</vt:lpstr>
      <vt:lpstr>Arial Black</vt:lpstr>
      <vt:lpstr>Arial Black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Fraudly Agentic LMS</dc:title>
  <dc:creator>PptxGenJS</dc:creator>
  <dc:subject>PptxGenJS Presentation</dc:subject>
  <cp:lastModifiedBy>WPS_1728211734</cp:lastModifiedBy>
  <cp:revision>2</cp:revision>
  <dcterms:created xsi:type="dcterms:W3CDTF">2026-03-10T17:26:00Z</dcterms:created>
  <dcterms:modified xsi:type="dcterms:W3CDTF">2026-03-10T17:31:04Z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06AF9538ECC04D92A30C218FCA169E09_12</vt:lpwstr>
  </property>
  <property fmtid="{D5CDD505-2E9C-101B-9397-08002B2CF9AE}" pid="3" name="KSOProductBuildVer">
    <vt:lpwstr>1036-12.1.0.25242</vt:lpwstr>
  </property>
</Properties>
</file>